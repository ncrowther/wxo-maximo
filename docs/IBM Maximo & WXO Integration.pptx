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  <p:sldMasterId id="2147483970" r:id="rId2"/>
  </p:sldMasterIdLst>
  <p:notesMasterIdLst>
    <p:notesMasterId r:id="rId10"/>
  </p:notesMasterIdLst>
  <p:handoutMasterIdLst>
    <p:handoutMasterId r:id="rId11"/>
  </p:handoutMasterIdLst>
  <p:sldIdLst>
    <p:sldId id="444" r:id="rId3"/>
    <p:sldId id="2147482177" r:id="rId4"/>
    <p:sldId id="2147478489" r:id="rId5"/>
    <p:sldId id="417" r:id="rId6"/>
    <p:sldId id="2147478491" r:id="rId7"/>
    <p:sldId id="2147482178" r:id="rId8"/>
    <p:sldId id="439" r:id="rId9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971447-014E-5BED-12F1-53B3CA57E011}" name="LAMPROS KISOURAS" initials="LK" userId="S::kisouras@us.ibm.com::10823a5b-467e-4f39-b9fe-4a25769cddcd" providerId="AD"/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5883" autoAdjust="0"/>
  </p:normalViewPr>
  <p:slideViewPr>
    <p:cSldViewPr snapToGrid="0">
      <p:cViewPr varScale="1">
        <p:scale>
          <a:sx n="54" d="100"/>
          <a:sy n="54" d="100"/>
        </p:scale>
        <p:origin x="12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E02D2-8FB9-4847-A4FD-70C9A6088177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447FD95-CEA4-4EFB-9C0E-811B2E28C2C4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GB" sz="5300" b="1" i="0" kern="1200" dirty="0">
              <a:solidFill>
                <a:srgbClr val="000000"/>
              </a:solidFill>
              <a:latin typeface="IBM Plex Sans Light"/>
              <a:ea typeface="+mn-ea"/>
              <a:cs typeface="+mn-cs"/>
            </a:rPr>
            <a:t>IBM Maximo </a:t>
          </a:r>
          <a:r>
            <a:rPr lang="en-GB" sz="4000" kern="1200" dirty="0"/>
            <a:t>is an </a:t>
          </a:r>
          <a:r>
            <a:rPr lang="en-GB" sz="4000" b="0" i="0" kern="1200" dirty="0">
              <a:solidFill>
                <a:srgbClr val="0F62FE"/>
              </a:solidFill>
              <a:latin typeface="IBM Plex Sans Light"/>
              <a:ea typeface="+mn-ea"/>
              <a:cs typeface="+mn-cs"/>
            </a:rPr>
            <a:t>enterprise asset management </a:t>
          </a:r>
          <a:r>
            <a:rPr lang="en-GB" sz="4000" kern="1200" dirty="0"/>
            <a:t>solution helping organisations manage their assets: equipment, facilities, and vehicles. </a:t>
          </a:r>
          <a:endParaRPr lang="en-US" sz="2800" kern="1200" dirty="0"/>
        </a:p>
      </dgm:t>
    </dgm:pt>
    <dgm:pt modelId="{CDFE4C29-3C33-4521-A6F4-BF0D6D4D124A}" type="parTrans" cxnId="{EB7D1A20-50AD-46E1-8CF9-61017795C9ED}">
      <dgm:prSet/>
      <dgm:spPr/>
      <dgm:t>
        <a:bodyPr/>
        <a:lstStyle/>
        <a:p>
          <a:endParaRPr lang="en-US"/>
        </a:p>
      </dgm:t>
    </dgm:pt>
    <dgm:pt modelId="{4A34DCF3-8A6B-43D8-A3E6-F11424E104F0}" type="sibTrans" cxnId="{EB7D1A20-50AD-46E1-8CF9-61017795C9ED}">
      <dgm:prSet/>
      <dgm:spPr/>
      <dgm:t>
        <a:bodyPr/>
        <a:lstStyle/>
        <a:p>
          <a:endParaRPr lang="en-US"/>
        </a:p>
      </dgm:t>
    </dgm:pt>
    <dgm:pt modelId="{44027759-5730-485F-B158-517349911CE9}">
      <dgm:prSet custT="1"/>
      <dgm:spPr>
        <a:solidFill>
          <a:srgbClr val="E5F6FF"/>
        </a:solidFill>
      </dgm:spPr>
      <dgm:t>
        <a:bodyPr/>
        <a:lstStyle/>
        <a:p>
          <a:r>
            <a:rPr lang="en-GB" sz="5300" b="1" i="0" dirty="0"/>
            <a:t>IBM </a:t>
          </a:r>
          <a:r>
            <a:rPr lang="en-GB" sz="5300" b="1" i="0" dirty="0" err="1"/>
            <a:t>Watsonx</a:t>
          </a:r>
          <a:r>
            <a:rPr lang="en-GB" sz="5300" b="1" i="0" dirty="0"/>
            <a:t> Orchestrate </a:t>
          </a:r>
          <a:r>
            <a:rPr lang="en-US" sz="4000" dirty="0"/>
            <a:t>is an AI-powered platform using natural language to automate business tasks by connecting to AI agents</a:t>
          </a:r>
        </a:p>
      </dgm:t>
    </dgm:pt>
    <dgm:pt modelId="{9A3C0B6A-15FE-486E-9E45-DEDCEAE0DDB1}" type="parTrans" cxnId="{6C27BBEC-B900-41A4-A477-CBB1B35A717E}">
      <dgm:prSet/>
      <dgm:spPr/>
      <dgm:t>
        <a:bodyPr/>
        <a:lstStyle/>
        <a:p>
          <a:endParaRPr lang="en-US"/>
        </a:p>
      </dgm:t>
    </dgm:pt>
    <dgm:pt modelId="{5C265032-A8F4-4873-8D81-7E1D8E656BA3}" type="sibTrans" cxnId="{6C27BBEC-B900-41A4-A477-CBB1B35A717E}">
      <dgm:prSet/>
      <dgm:spPr/>
      <dgm:t>
        <a:bodyPr/>
        <a:lstStyle/>
        <a:p>
          <a:endParaRPr lang="en-US"/>
        </a:p>
      </dgm:t>
    </dgm:pt>
    <dgm:pt modelId="{90A12CC7-0FB4-5F4F-948D-DF067AD81A8F}" type="pres">
      <dgm:prSet presAssocID="{C2FE02D2-8FB9-4847-A4FD-70C9A6088177}" presName="linear" presStyleCnt="0">
        <dgm:presLayoutVars>
          <dgm:animLvl val="lvl"/>
          <dgm:resizeHandles val="exact"/>
        </dgm:presLayoutVars>
      </dgm:prSet>
      <dgm:spPr/>
    </dgm:pt>
    <dgm:pt modelId="{82F9E482-E5C7-014D-A7B3-E5F243BAFBA4}" type="pres">
      <dgm:prSet presAssocID="{D447FD95-CEA4-4EFB-9C0E-811B2E28C2C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C445AB3-E579-3C40-A378-061E7D57CDBC}" type="pres">
      <dgm:prSet presAssocID="{4A34DCF3-8A6B-43D8-A3E6-F11424E104F0}" presName="spacer" presStyleCnt="0"/>
      <dgm:spPr/>
    </dgm:pt>
    <dgm:pt modelId="{6A8BAC92-9FC9-CA46-BFDE-3DCD42B8A3E8}" type="pres">
      <dgm:prSet presAssocID="{44027759-5730-485F-B158-517349911CE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B7D1A20-50AD-46E1-8CF9-61017795C9ED}" srcId="{C2FE02D2-8FB9-4847-A4FD-70C9A6088177}" destId="{D447FD95-CEA4-4EFB-9C0E-811B2E28C2C4}" srcOrd="0" destOrd="0" parTransId="{CDFE4C29-3C33-4521-A6F4-BF0D6D4D124A}" sibTransId="{4A34DCF3-8A6B-43D8-A3E6-F11424E104F0}"/>
    <dgm:cxn modelId="{E466F66F-3EE0-244F-ADBA-2FDBB2D1700C}" type="presOf" srcId="{D447FD95-CEA4-4EFB-9C0E-811B2E28C2C4}" destId="{82F9E482-E5C7-014D-A7B3-E5F243BAFBA4}" srcOrd="0" destOrd="0" presId="urn:microsoft.com/office/officeart/2005/8/layout/vList2"/>
    <dgm:cxn modelId="{201E8D7C-344D-2341-9F5E-B1B68B06FB3A}" type="presOf" srcId="{44027759-5730-485F-B158-517349911CE9}" destId="{6A8BAC92-9FC9-CA46-BFDE-3DCD42B8A3E8}" srcOrd="0" destOrd="0" presId="urn:microsoft.com/office/officeart/2005/8/layout/vList2"/>
    <dgm:cxn modelId="{1CDFFCA7-2989-094D-B375-EE5FE843B04F}" type="presOf" srcId="{C2FE02D2-8FB9-4847-A4FD-70C9A6088177}" destId="{90A12CC7-0FB4-5F4F-948D-DF067AD81A8F}" srcOrd="0" destOrd="0" presId="urn:microsoft.com/office/officeart/2005/8/layout/vList2"/>
    <dgm:cxn modelId="{6C27BBEC-B900-41A4-A477-CBB1B35A717E}" srcId="{C2FE02D2-8FB9-4847-A4FD-70C9A6088177}" destId="{44027759-5730-485F-B158-517349911CE9}" srcOrd="1" destOrd="0" parTransId="{9A3C0B6A-15FE-486E-9E45-DEDCEAE0DDB1}" sibTransId="{5C265032-A8F4-4873-8D81-7E1D8E656BA3}"/>
    <dgm:cxn modelId="{4F730924-C227-1F4C-994B-5D0908257084}" type="presParOf" srcId="{90A12CC7-0FB4-5F4F-948D-DF067AD81A8F}" destId="{82F9E482-E5C7-014D-A7B3-E5F243BAFBA4}" srcOrd="0" destOrd="0" presId="urn:microsoft.com/office/officeart/2005/8/layout/vList2"/>
    <dgm:cxn modelId="{CA81CA42-2F7A-464F-9D42-CE4115CF0BC7}" type="presParOf" srcId="{90A12CC7-0FB4-5F4F-948D-DF067AD81A8F}" destId="{CC445AB3-E579-3C40-A378-061E7D57CDBC}" srcOrd="1" destOrd="0" presId="urn:microsoft.com/office/officeart/2005/8/layout/vList2"/>
    <dgm:cxn modelId="{91A4766A-57CF-8A40-8597-20E80375873D}" type="presParOf" srcId="{90A12CC7-0FB4-5F4F-948D-DF067AD81A8F}" destId="{6A8BAC92-9FC9-CA46-BFDE-3DCD42B8A3E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9E482-E5C7-014D-A7B3-E5F243BAFBA4}">
      <dsp:nvSpPr>
        <dsp:cNvPr id="0" name=""/>
        <dsp:cNvSpPr/>
      </dsp:nvSpPr>
      <dsp:spPr>
        <a:xfrm>
          <a:off x="0" y="3702912"/>
          <a:ext cx="18898671" cy="2015325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300" b="1" i="0" kern="1200" dirty="0">
              <a:solidFill>
                <a:srgbClr val="000000"/>
              </a:solidFill>
              <a:latin typeface="IBM Plex Sans Light"/>
              <a:ea typeface="+mn-ea"/>
              <a:cs typeface="+mn-cs"/>
            </a:rPr>
            <a:t>IBM Maximo </a:t>
          </a:r>
          <a:r>
            <a:rPr lang="en-GB" sz="4000" kern="1200" dirty="0"/>
            <a:t>is an </a:t>
          </a:r>
          <a:r>
            <a:rPr lang="en-GB" sz="4000" b="0" i="0" kern="1200" dirty="0">
              <a:solidFill>
                <a:srgbClr val="0F62FE"/>
              </a:solidFill>
              <a:latin typeface="IBM Plex Sans Light"/>
              <a:ea typeface="+mn-ea"/>
              <a:cs typeface="+mn-cs"/>
            </a:rPr>
            <a:t>enterprise asset management </a:t>
          </a:r>
          <a:r>
            <a:rPr lang="en-GB" sz="4000" kern="1200" dirty="0"/>
            <a:t>solution helping organisations manage their assets: equipment, facilities, and vehicles. </a:t>
          </a:r>
          <a:endParaRPr lang="en-US" sz="2800" kern="1200" dirty="0"/>
        </a:p>
      </dsp:txBody>
      <dsp:txXfrm>
        <a:off x="98380" y="3801292"/>
        <a:ext cx="18701911" cy="1818565"/>
      </dsp:txXfrm>
    </dsp:sp>
    <dsp:sp modelId="{6A8BAC92-9FC9-CA46-BFDE-3DCD42B8A3E8}">
      <dsp:nvSpPr>
        <dsp:cNvPr id="0" name=""/>
        <dsp:cNvSpPr/>
      </dsp:nvSpPr>
      <dsp:spPr>
        <a:xfrm>
          <a:off x="0" y="5905437"/>
          <a:ext cx="18898671" cy="2015325"/>
        </a:xfrm>
        <a:prstGeom prst="roundRect">
          <a:avLst/>
        </a:prstGeom>
        <a:solidFill>
          <a:srgbClr val="E5F6F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300" b="1" i="0" kern="1200" dirty="0"/>
            <a:t>IBM </a:t>
          </a:r>
          <a:r>
            <a:rPr lang="en-GB" sz="5300" b="1" i="0" kern="1200" dirty="0" err="1"/>
            <a:t>Watsonx</a:t>
          </a:r>
          <a:r>
            <a:rPr lang="en-GB" sz="5300" b="1" i="0" kern="1200" dirty="0"/>
            <a:t> Orchestrate </a:t>
          </a:r>
          <a:r>
            <a:rPr lang="en-US" sz="4000" kern="1200" dirty="0"/>
            <a:t>is an AI-powered platform using natural language to automate business tasks by connecting to AI agents</a:t>
          </a:r>
        </a:p>
      </dsp:txBody>
      <dsp:txXfrm>
        <a:off x="98380" y="6003817"/>
        <a:ext cx="18701911" cy="1818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FBFFE-CB3A-29E7-BC40-666F45131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25119-AFDF-364F-82AA-F81518F95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IBM Plex Sans Light" panose="020B040305020300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905286C-4A24-5A6D-8E59-6C136770DD24}"/>
              </a:ext>
            </a:extLst>
          </p:cNvPr>
          <p:cNvSpPr txBox="1">
            <a:spLocks/>
          </p:cNvSpPr>
          <p:nvPr/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182937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E2E38B8-B0B4-AD41-AC6E-B781F46A9FD3}" type="slidenum">
              <a:rPr lang="en-US" sz="600" smtClean="0">
                <a:solidFill>
                  <a:schemeClr val="bg1"/>
                </a:solidFill>
              </a:rPr>
              <a:pPr/>
              <a:t>1</a:t>
            </a:fld>
            <a:endParaRPr lang="en-U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Footer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509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IBM Plex Sans Light"/>
              </a:rPr>
              <a:t>IBM Automation overview presentation.</a:t>
            </a:r>
          </a:p>
          <a:p>
            <a:r>
              <a:rPr lang="en-US" dirty="0">
                <a:latin typeface="IBM Plex Sans Light"/>
              </a:rPr>
              <a:t>Make technology lifecycle management your advantage—with AI-powered 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3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9550" y="228600"/>
            <a:ext cx="6421438" cy="3611563"/>
          </a:xfrm>
        </p:spPr>
      </p:sp>
      <p:sp>
        <p:nvSpPr>
          <p:cNvPr id="6" name="Notes Placeholder 5">
            <a:extLst>
              <a:ext uri="{FF2B5EF4-FFF2-40B4-BE49-F238E27FC236}">
                <a16:creationId xmlns:a16="http://schemas.microsoft.com/office/drawing/2014/main" id="{B591F302-3DA1-17E1-1F28-0DB712799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9550" y="4087366"/>
            <a:ext cx="6421438" cy="4315968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7D8B66E-2B36-2A86-6927-37B09344E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</p:spPr>
        <p:txBody>
          <a:bodyPr/>
          <a:lstStyle/>
          <a:p>
            <a:fld id="{6E2E38B8-B0B4-AD41-AC6E-B781F46A9FD3}" type="slidenum">
              <a:rPr lang="en-US" sz="600" smtClean="0">
                <a:solidFill>
                  <a:schemeClr val="bg1"/>
                </a:solidFill>
              </a:rPr>
              <a:pPr/>
              <a:t>7</a:t>
            </a:fld>
            <a:endParaRPr lang="en-US" sz="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232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>
                <a:latin typeface="IBM Plex Sans Light" panose="020B0403050203000203" pitchFamily="34" charset="0"/>
              </a:rPr>
              <a:t>Lorem ipsum dolor sit </a:t>
            </a:r>
            <a:r>
              <a:rPr lang="en-US" sz="2800" err="1">
                <a:latin typeface="IBM Plex Sans Light" panose="020B0403050203000203" pitchFamily="34" charset="0"/>
              </a:rPr>
              <a:t>amet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donec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quam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felis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ultricies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nec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pellentesque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eu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pretium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quis</a:t>
            </a:r>
            <a:r>
              <a:rPr lang="en-US" sz="2800">
                <a:latin typeface="IBM Plex Sans Light" panose="020B0403050203000203" pitchFamily="34" charset="0"/>
              </a:rPr>
              <a:t> sem. </a:t>
            </a:r>
            <a:r>
              <a:rPr lang="en-US" sz="2800" err="1">
                <a:latin typeface="IBM Plex Sans Light" panose="020B0403050203000203" pitchFamily="34" charset="0"/>
              </a:rPr>
              <a:t>Nulla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conset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massa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quis</a:t>
            </a:r>
            <a:r>
              <a:rPr lang="en-US" sz="2800">
                <a:latin typeface="IBM Plex Sans Light" panose="020B0403050203000203" pitchFamily="34" charset="0"/>
              </a:rPr>
              <a:t> </a:t>
            </a:r>
            <a:r>
              <a:rPr lang="en-US" sz="2800" err="1">
                <a:latin typeface="IBM Plex Sans Light" panose="020B0403050203000203" pitchFamily="34" charset="0"/>
              </a:rPr>
              <a:t>enim</a:t>
            </a:r>
            <a:r>
              <a:rPr lang="en-US" sz="280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1027" y="899"/>
            <a:ext cx="12186973" cy="611597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9CB0EE-399D-E7B8-85E6-488055A857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589" y="6116874"/>
            <a:ext cx="6077577" cy="608059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06E546E-2AFE-C74E-3532-5D6612A3AD8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222887" y="6116874"/>
            <a:ext cx="12162701" cy="608059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5" y="396577"/>
            <a:ext cx="4986527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0DA1707-6C7E-1724-4E62-628D2A33B3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0940" y="6858001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78E61A-FAE0-02C2-9E52-B553A1B787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859499" y="495791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63D1EFE-4D07-775A-BAD0-C2C3361DC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5" y="12804236"/>
            <a:ext cx="4956175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IBM TechXchange | © 2024 IBM Corporation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CFFD82-9034-6841-A264-E93896860B95}"/>
              </a:ext>
            </a:extLst>
          </p:cNvPr>
          <p:cNvSpPr txBox="1"/>
          <p:nvPr userDrawn="1"/>
        </p:nvSpPr>
        <p:spPr>
          <a:xfrm>
            <a:off x="21322284" y="12939015"/>
            <a:ext cx="1842516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spAutoFit/>
          </a:bodyPr>
          <a:lstStyle/>
          <a:p>
            <a:pPr algn="r" defTabSz="2437912">
              <a:spcBef>
                <a:spcPts val="2900"/>
              </a:spcBef>
              <a:buSzPct val="100000"/>
            </a:pPr>
            <a:r>
              <a:rPr lang="en-US" sz="1600" kern="0" dirty="0">
                <a:solidFill>
                  <a:srgbClr val="000000"/>
                </a:solidFill>
                <a:latin typeface="IBM Plex Sans" panose="020B0503050203000203" pitchFamily="34" charset="0"/>
                <a:ea typeface="+mj-ea"/>
                <a:cs typeface="+mj-cs"/>
                <a:sym typeface="IBM Plex Sans Light"/>
              </a:rPr>
              <a:t>#IBMTechXchange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E66751B-C9E7-0914-79D8-7033F4FB7B4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66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  <p:sldLayoutId id="2147483969" r:id="rId49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IBM Automation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1" r:id="rId1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Relationship Id="rId5" Type="http://schemas.openxmlformats.org/officeDocument/2006/relationships/hyperlink" Target="https://github.com/ncrowther/wxo-maximo" TargetMode="External"/><Relationship Id="rId4" Type="http://schemas.openxmlformats.org/officeDocument/2006/relationships/hyperlink" Target="https://youtu.be/q3jBU3w1uCc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0B9086D-253F-8CE8-61E4-8B4D5594DEB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3" y="-1"/>
            <a:ext cx="24385588" cy="137160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59622" y="571530"/>
            <a:ext cx="13485561" cy="7620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400"/>
              </a:lnSpc>
            </a:pPr>
            <a:r>
              <a:rPr lang="en-US" sz="5400" b="1" dirty="0">
                <a:solidFill>
                  <a:schemeClr val="accent1"/>
                </a:solidFill>
                <a:latin typeface="IBM Plex Sans" panose="020B0503050203000203" pitchFamily="34" charset="0"/>
                <a:ea typeface="IBM Plex Sans Light" pitchFamily="34" charset="-122"/>
                <a:cs typeface="IBM Plex Sans Light" pitchFamily="34" charset="-120"/>
              </a:rPr>
              <a:t>IBM </a:t>
            </a:r>
            <a:r>
              <a:rPr lang="en-GB" sz="5400" b="1" i="0" u="none" strike="noStrike" dirty="0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Maximo and </a:t>
            </a:r>
            <a:r>
              <a:rPr lang="en-GB" sz="5400" b="1" i="0" u="none" strike="noStrike" dirty="0" err="1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Watsonx</a:t>
            </a:r>
            <a:r>
              <a:rPr lang="en-GB" sz="5400" b="1" i="0" u="none" strike="noStrike" dirty="0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 Orchestrate</a:t>
            </a:r>
            <a:endParaRPr lang="en-US" sz="5400" b="1" dirty="0">
              <a:solidFill>
                <a:schemeClr val="accent1"/>
              </a:solidFill>
              <a:latin typeface="IBM Plex Sans" panose="020B0503050203000203" pitchFamily="34" charset="0"/>
            </a:endParaRPr>
          </a:p>
        </p:txBody>
      </p:sp>
      <p:pic>
        <p:nvPicPr>
          <p:cNvPr id="4" name="Image 1" descr="IBM_logo®_pos 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66611" y="12573630"/>
            <a:ext cx="1534820" cy="571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931F4C-EB8C-36D7-3D37-36386AAC96E9}"/>
              </a:ext>
            </a:extLst>
          </p:cNvPr>
          <p:cNvSpPr txBox="1"/>
          <p:nvPr/>
        </p:nvSpPr>
        <p:spPr>
          <a:xfrm>
            <a:off x="-1755678" y="2220706"/>
            <a:ext cx="11561603" cy="64633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b="0" i="1" u="none" strike="noStrike" dirty="0">
                <a:effectLst/>
                <a:latin typeface="IBM Plex Sans" panose="020B0503050203000203" pitchFamily="34" charset="0"/>
              </a:rPr>
              <a:t>AI enhanced </a:t>
            </a:r>
            <a:r>
              <a:rPr lang="en-GB" b="0" u="none" strike="noStrike" dirty="0">
                <a:effectLst/>
                <a:latin typeface="IBM Plex Sans" panose="020B0503050203000203" pitchFamily="34" charset="0"/>
              </a:rPr>
              <a:t>asset management</a:t>
            </a:r>
            <a:endParaRPr lang="en-GB" dirty="0">
              <a:latin typeface="IBM Plex Sans" panose="020B050305020300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C3E79-4DB8-DB77-D47F-C832DC961C0B}"/>
              </a:ext>
            </a:extLst>
          </p:cNvPr>
          <p:cNvSpPr txBox="1"/>
          <p:nvPr/>
        </p:nvSpPr>
        <p:spPr>
          <a:xfrm>
            <a:off x="485744" y="11727329"/>
            <a:ext cx="4565544" cy="169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914309">
              <a:buSzPct val="100000"/>
            </a:pPr>
            <a:r>
              <a:rPr lang="en-US" sz="2800" kern="0" dirty="0">
                <a:solidFill>
                  <a:srgbClr val="000000"/>
                </a:solidFill>
                <a:latin typeface="IBM Plex Sans" panose="020B0503050203000203" pitchFamily="34" charset="0"/>
                <a:sym typeface="IBM Plex Sans Light"/>
              </a:rPr>
              <a:t>Nigel T. Crowther</a:t>
            </a:r>
          </a:p>
          <a:p>
            <a:pPr defTabSz="914309">
              <a:buSzPct val="100000"/>
            </a:pPr>
            <a:r>
              <a:rPr lang="en-US" sz="2800" kern="0" dirty="0">
                <a:solidFill>
                  <a:srgbClr val="000000"/>
                </a:solidFill>
                <a:latin typeface="IBM Plex Sans" panose="020B0503050203000203" pitchFamily="34" charset="0"/>
                <a:sym typeface="IBM Plex Sans Light"/>
              </a:rPr>
              <a:t>IBM Tech Sales UKI</a:t>
            </a:r>
          </a:p>
        </p:txBody>
      </p:sp>
    </p:spTree>
    <p:extLst>
      <p:ext uri="{BB962C8B-B14F-4D97-AF65-F5344CB8AC3E}">
        <p14:creationId xmlns:p14="http://schemas.microsoft.com/office/powerpoint/2010/main" val="53233059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6CAA-3AD4-E80D-0B65-8363B9A7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11209600" cy="3995928"/>
          </a:xfrm>
        </p:spPr>
        <p:txBody>
          <a:bodyPr>
            <a:normAutofit/>
          </a:bodyPr>
          <a:lstStyle/>
          <a:p>
            <a:r>
              <a:rPr lang="en-GB" sz="4800" b="1" i="0" u="none" strike="noStrike" dirty="0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Overview of Maximo and </a:t>
            </a:r>
            <a:r>
              <a:rPr lang="en-GB" sz="4800" b="1" i="0" u="none" strike="noStrike" dirty="0" err="1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Watsonx</a:t>
            </a:r>
            <a:r>
              <a:rPr lang="en-GB" sz="4800" b="1" i="0" u="none" strike="noStrike" dirty="0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 Orchestrate</a:t>
            </a:r>
            <a:br>
              <a:rPr lang="en-GB" b="1" i="0" u="none" strike="noStrike" dirty="0">
                <a:effectLst/>
              </a:rPr>
            </a:b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89DD-16C9-4633-840C-29208717C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 wrap="none" anchor="ctr">
            <a:normAutofit/>
          </a:bodyPr>
          <a:lstStyle/>
          <a:p>
            <a:pPr>
              <a:spcAft>
                <a:spcPts val="600"/>
              </a:spcAft>
            </a:pPr>
            <a:fld id="{86CB4B4D-7CA3-9044-876B-883B54F8677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095532AA-1CD1-F252-C557-FFD2316217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231295"/>
              </p:ext>
            </p:extLst>
          </p:nvPr>
        </p:nvGraphicFramePr>
        <p:xfrm>
          <a:off x="3152240" y="2092325"/>
          <a:ext cx="18898671" cy="11623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37267E2-08A8-F9A3-91B7-D1591D73C7A9}"/>
              </a:ext>
            </a:extLst>
          </p:cNvPr>
          <p:cNvSpPr txBox="1"/>
          <p:nvPr/>
        </p:nvSpPr>
        <p:spPr>
          <a:xfrm>
            <a:off x="-1339702" y="18288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78298221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BD653-9986-773F-5D1F-3D292F1C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776B99-37F4-90EF-1662-2DE96BE6BEF5}"/>
              </a:ext>
            </a:extLst>
          </p:cNvPr>
          <p:cNvSpPr>
            <a:spLocks/>
          </p:cNvSpPr>
          <p:nvPr/>
        </p:nvSpPr>
        <p:spPr bwMode="auto">
          <a:xfrm>
            <a:off x="3175" y="1273876"/>
            <a:ext cx="6098644" cy="6116074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243808" tIns="243808" rIns="243808" bIns="243808" numCol="1" rtlCol="0" anchor="t" anchorCtr="0" compatLnSpc="1">
            <a:prstTxWarp prst="textNoShape">
              <a:avLst/>
            </a:prstTxWarp>
          </a:bodyPr>
          <a:lstStyle/>
          <a:p>
            <a:pPr defTabSz="24378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734" dirty="0">
              <a:solidFill>
                <a:srgbClr val="FFFFFF"/>
              </a:solidFill>
              <a:latin typeface="IBM Plex Sans Light"/>
            </a:endParaRPr>
          </a:p>
        </p:txBody>
      </p:sp>
      <p:pic>
        <p:nvPicPr>
          <p:cNvPr id="12" name="Picture Placeholder 11" descr="A person holding a coffee cup and a phone&#10;&#10;Description automatically generated">
            <a:extLst>
              <a:ext uri="{FF2B5EF4-FFF2-40B4-BE49-F238E27FC236}">
                <a16:creationId xmlns:a16="http://schemas.microsoft.com/office/drawing/2014/main" id="{9271B7FC-2211-C2F0-F3D9-F87C75E67EF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1027" y="1273880"/>
            <a:ext cx="12186973" cy="6115974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113EB7E-B882-1158-3AB2-C87C72B7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5" y="1669558"/>
            <a:ext cx="4986527" cy="3032426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600"/>
              </a:spcAft>
              <a:defRPr/>
            </a:pPr>
            <a:r>
              <a:rPr lang="en-US" sz="3600" dirty="0">
                <a:solidFill>
                  <a:srgbClr val="000000"/>
                </a:solidFill>
                <a:latin typeface="IBM Plex Sans Light"/>
              </a:rPr>
              <a:t>“Our users are in Maximo all day long finding information and creating reports. </a:t>
            </a:r>
            <a:r>
              <a:rPr lang="en-US" sz="3600" dirty="0">
                <a:solidFill>
                  <a:schemeClr val="accent1"/>
                </a:solidFill>
                <a:latin typeface="IBM Plex Sans Light"/>
              </a:rPr>
              <a:t>Anything that would reduce that time would be a big win</a:t>
            </a:r>
            <a:r>
              <a:rPr lang="en-US" sz="3600" dirty="0">
                <a:solidFill>
                  <a:srgbClr val="000000"/>
                </a:solidFill>
                <a:latin typeface="IBM Plex Sans Light"/>
              </a:rPr>
              <a:t>.”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757BAD-6514-131C-388C-C4B6B820E4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0940" y="8130982"/>
            <a:ext cx="4960170" cy="5138738"/>
          </a:xfrm>
        </p:spPr>
        <p:txBody>
          <a:bodyPr/>
          <a:lstStyle/>
          <a:p>
            <a:r>
              <a:rPr lang="en-US" dirty="0"/>
              <a:t>”We have people </a:t>
            </a:r>
            <a:r>
              <a:rPr lang="en-US" dirty="0">
                <a:solidFill>
                  <a:schemeClr val="accent1"/>
                </a:solidFill>
              </a:rPr>
              <a:t>manually entering </a:t>
            </a:r>
            <a:r>
              <a:rPr lang="en-US" dirty="0"/>
              <a:t>information collected from documents.”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C6D0A7-B638-9703-8517-0C7E313C92E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859499" y="1768772"/>
            <a:ext cx="4960170" cy="5138738"/>
          </a:xfrm>
        </p:spPr>
        <p:txBody>
          <a:bodyPr/>
          <a:lstStyle/>
          <a:p>
            <a:r>
              <a:rPr lang="en-US" dirty="0"/>
              <a:t>“We have </a:t>
            </a:r>
            <a:r>
              <a:rPr lang="en-US" dirty="0">
                <a:solidFill>
                  <a:schemeClr val="accent1"/>
                </a:solidFill>
              </a:rPr>
              <a:t>legal and contractual maintenance documents</a:t>
            </a:r>
            <a:r>
              <a:rPr lang="en-US" dirty="0"/>
              <a:t> stored in our repository, but it’s </a:t>
            </a:r>
            <a:r>
              <a:rPr lang="en-US" dirty="0">
                <a:solidFill>
                  <a:schemeClr val="accent1"/>
                </a:solidFill>
              </a:rPr>
              <a:t>almost impossible to get the right answer</a:t>
            </a:r>
            <a:r>
              <a:rPr lang="en-US" dirty="0"/>
              <a:t> without a lot of manual searching”</a:t>
            </a:r>
          </a:p>
        </p:txBody>
      </p:sp>
      <p:pic>
        <p:nvPicPr>
          <p:cNvPr id="10" name="Picture Placeholder 9" descr="A person in a safety vest looking at a tablet&#10;&#10;Description automatically generated">
            <a:extLst>
              <a:ext uri="{FF2B5EF4-FFF2-40B4-BE49-F238E27FC236}">
                <a16:creationId xmlns:a16="http://schemas.microsoft.com/office/drawing/2014/main" id="{8F8ECC0C-F767-5D18-C98E-A466BDE3296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89" y="7389855"/>
            <a:ext cx="6077577" cy="6080596"/>
          </a:xfrm>
        </p:spPr>
      </p:pic>
      <p:pic>
        <p:nvPicPr>
          <p:cNvPr id="14" name="Picture Placeholder 13" descr="A person sitting on the floor using a computer&#10;&#10;Description automatically generated">
            <a:extLst>
              <a:ext uri="{FF2B5EF4-FFF2-40B4-BE49-F238E27FC236}">
                <a16:creationId xmlns:a16="http://schemas.microsoft.com/office/drawing/2014/main" id="{5E97E4BF-8C17-FA16-C5FA-C31B91C2CDF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222887" y="7389855"/>
            <a:ext cx="12162701" cy="6080596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DC7ED9-131E-456D-A751-C1F2F34FF35F}"/>
              </a:ext>
            </a:extLst>
          </p:cNvPr>
          <p:cNvSpPr/>
          <p:nvPr/>
        </p:nvSpPr>
        <p:spPr bwMode="auto">
          <a:xfrm>
            <a:off x="21271832" y="14170834"/>
            <a:ext cx="1997242" cy="433136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EA238-D240-B2D7-7A8B-9183E296294F}"/>
              </a:ext>
            </a:extLst>
          </p:cNvPr>
          <p:cNvSpPr txBox="1">
            <a:spLocks/>
          </p:cNvSpPr>
          <p:nvPr/>
        </p:nvSpPr>
        <p:spPr>
          <a:xfrm>
            <a:off x="537975" y="137630"/>
            <a:ext cx="7424927" cy="938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45720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GB" sz="4800" b="1" kern="0" dirty="0">
                <a:solidFill>
                  <a:schemeClr val="accent1"/>
                </a:solidFill>
                <a:latin typeface="IBM Plex Sans" panose="020B0503050203000203" pitchFamily="34" charset="0"/>
              </a:rPr>
              <a:t>The Problem</a:t>
            </a:r>
            <a:endParaRPr lang="en-GB" sz="4800" kern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34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A1B750D-18D0-C995-6469-DC32408C23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1"/>
                </a:solidFill>
              </a:rPr>
              <a:t>Make sense of Data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3F65626-4AA9-6B1F-36D3-78E8E4CA57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8222" y="3384849"/>
            <a:ext cx="4514261" cy="8571384"/>
          </a:xfrm>
        </p:spPr>
        <p:txBody>
          <a:bodyPr/>
          <a:lstStyle/>
          <a:p>
            <a:pPr defTabSz="1829402">
              <a:lnSpc>
                <a:spcPct val="100000"/>
              </a:lnSpc>
              <a:defRPr/>
            </a:pPr>
            <a:r>
              <a:rPr lang="en-GB" sz="2800" dirty="0"/>
              <a:t>Use agentic AI natural language to interrogate Maximo data and create reports</a:t>
            </a:r>
            <a:endParaRPr lang="en-US" sz="3733" dirty="0">
              <a:solidFill>
                <a:srgbClr val="000000"/>
              </a:solidFill>
              <a:latin typeface="IBM Plex Sans Light" panose="020B0403050203000203" pitchFamily="34" charset="0"/>
              <a:ea typeface="+mn-ea"/>
              <a:cs typeface="+mn-cs"/>
            </a:endParaRP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903580C-28C7-F175-647D-CF7303AD2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99866" y="592524"/>
            <a:ext cx="4952355" cy="9155507"/>
          </a:xfrm>
        </p:spPr>
        <p:txBody>
          <a:bodyPr/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</a:rPr>
              <a:t>Reduce Manual Tasks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00955D8-1198-A2F0-4236-D207B707A1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428" y="576892"/>
            <a:ext cx="5345384" cy="1525389"/>
          </a:xfrm>
        </p:spPr>
        <p:txBody>
          <a:bodyPr/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</a:rPr>
              <a:t>Understand Contracts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ABDE07-F9A8-EB1F-32CE-5D1DB82D8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50732"/>
            <a:ext cx="123432" cy="246221"/>
          </a:xfrm>
        </p:spPr>
        <p:txBody>
          <a:bodyPr/>
          <a:lstStyle/>
          <a:p>
            <a:pPr defTabSz="1829402"/>
            <a:fld id="{86CB4B4D-7CA3-9044-876B-883B54F8677D}" type="slidenum">
              <a:rPr lang="en-US">
                <a:solidFill>
                  <a:srgbClr val="000000"/>
                </a:solidFill>
              </a:rPr>
              <a:pPr defTabSz="182940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BB93A2-F03C-98E9-7235-5050895A4BE3}"/>
              </a:ext>
            </a:extLst>
          </p:cNvPr>
          <p:cNvSpPr txBox="1"/>
          <p:nvPr/>
        </p:nvSpPr>
        <p:spPr>
          <a:xfrm>
            <a:off x="12148462" y="796819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70" indent="-446755" defTabSz="2438430">
              <a:spcBef>
                <a:spcPts val="2901"/>
              </a:spcBef>
              <a:buSzPct val="100000"/>
              <a:buFontTx/>
              <a:buChar char="–"/>
            </a:pPr>
            <a:endParaRPr lang="en-US" sz="9600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11" name="Text Placeholder 32">
            <a:extLst>
              <a:ext uri="{FF2B5EF4-FFF2-40B4-BE49-F238E27FC236}">
                <a16:creationId xmlns:a16="http://schemas.microsoft.com/office/drawing/2014/main" id="{3EDE60EF-02AD-3837-F54C-3919BE04D19E}"/>
              </a:ext>
            </a:extLst>
          </p:cNvPr>
          <p:cNvSpPr txBox="1">
            <a:spLocks/>
          </p:cNvSpPr>
          <p:nvPr/>
        </p:nvSpPr>
        <p:spPr>
          <a:xfrm>
            <a:off x="12912091" y="3384849"/>
            <a:ext cx="4727499" cy="8571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182862" marR="0" indent="-182862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2pPr>
            <a:lvl3pPr marL="365723" marR="0" indent="-182862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3pPr>
            <a:lvl4pPr marL="548585" marR="0" indent="-182862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4pPr>
            <a:lvl5pPr marL="1142886" marR="0" indent="-457154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5pPr>
            <a:lvl6pPr marL="1842876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410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7943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476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4873936">
              <a:spcBef>
                <a:spcPts val="5795"/>
              </a:spcBef>
              <a:buSzPct val="100000"/>
              <a:defRPr/>
            </a:pPr>
            <a:r>
              <a:rPr lang="en-GB" sz="2800" kern="0" dirty="0">
                <a:solidFill>
                  <a:srgbClr val="000000"/>
                </a:solidFill>
              </a:rPr>
              <a:t>Save time getting  answers related to contracts.</a:t>
            </a:r>
            <a:endParaRPr lang="en-MX" sz="2800" kern="0" dirty="0">
              <a:solidFill>
                <a:srgbClr val="000000"/>
              </a:solidFill>
            </a:endParaRPr>
          </a:p>
          <a:p>
            <a:pPr defTabSz="1829402">
              <a:lnSpc>
                <a:spcPct val="100000"/>
              </a:lnSpc>
              <a:defRPr/>
            </a:pPr>
            <a:endParaRPr lang="en-US" sz="2800" kern="0" dirty="0">
              <a:solidFill>
                <a:srgbClr val="000000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9AB8463E-948C-3876-DE2A-29707245FD42}"/>
              </a:ext>
            </a:extLst>
          </p:cNvPr>
          <p:cNvSpPr txBox="1">
            <a:spLocks/>
          </p:cNvSpPr>
          <p:nvPr/>
        </p:nvSpPr>
        <p:spPr>
          <a:xfrm>
            <a:off x="18999866" y="3384849"/>
            <a:ext cx="4068269" cy="8571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182862" marR="0" indent="-182862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2pPr>
            <a:lvl3pPr marL="365723" marR="0" indent="-182862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3pPr>
            <a:lvl4pPr marL="548585" marR="0" indent="-182862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4pPr>
            <a:lvl5pPr marL="1142886" marR="0" indent="-457154" algn="l" defTabSz="24381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5pPr>
            <a:lvl6pPr marL="1842876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410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7943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476" marR="0" indent="-388970" algn="l" defTabSz="2438156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2438188"/>
            <a:r>
              <a:rPr lang="en-US" sz="2800" dirty="0">
                <a:solidFill>
                  <a:srgbClr val="000000"/>
                </a:solidFill>
              </a:rPr>
              <a:t>Automate tedious data entry using Orchestrate to  automate data capture and entry</a:t>
            </a:r>
            <a:endParaRPr lang="en-US" sz="2800" kern="0" dirty="0">
              <a:solidFill>
                <a:srgbClr val="000000"/>
              </a:solidFill>
              <a:latin typeface="IBM Plex Sans Light" panose="020B0403050203000203" pitchFamily="34" charset="0"/>
            </a:endParaRP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3811B97E-C333-102D-2076-C3BF31F75BFB}"/>
              </a:ext>
            </a:extLst>
          </p:cNvPr>
          <p:cNvSpPr txBox="1">
            <a:spLocks/>
          </p:cNvSpPr>
          <p:nvPr/>
        </p:nvSpPr>
        <p:spPr>
          <a:xfrm>
            <a:off x="380854" y="12911328"/>
            <a:ext cx="4954885" cy="365664"/>
          </a:xfrm>
          <a:prstGeom prst="rect">
            <a:avLst/>
          </a:prstGeom>
        </p:spPr>
        <p:txBody>
          <a:bodyPr lIns="182856" tIns="91429" rIns="182856" bIns="91429" anchor="ctr"/>
          <a:lstStyle>
            <a:defPPr>
              <a:defRPr lang="en-US"/>
            </a:defPPr>
            <a:lvl1pPr marL="0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092"/>
            <a:r>
              <a:rPr lang="en-US" sz="1600" dirty="0">
                <a:solidFill>
                  <a:srgbClr val="000000"/>
                </a:solidFill>
                <a:latin typeface="IBM Plex Sans Light"/>
                <a:sym typeface="Helvetica Neue"/>
              </a:rPr>
              <a:t>IBM AI Productivity | © 2025 IBM Corporation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CABE46-DA2B-A157-8D09-3F2296DE4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41" y="6858000"/>
            <a:ext cx="4984549" cy="469352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71DCD05-8ABB-71DB-9F01-094B3DB7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938405"/>
          </a:xfrm>
        </p:spPr>
        <p:txBody>
          <a:bodyPr/>
          <a:lstStyle/>
          <a:p>
            <a:r>
              <a:rPr lang="en-GB" sz="4800" b="1" dirty="0">
                <a:solidFill>
                  <a:schemeClr val="accent1"/>
                </a:solidFill>
                <a:latin typeface="IBM Plex Sans" panose="020B0503050203000203" pitchFamily="34" charset="0"/>
              </a:rPr>
              <a:t>The </a:t>
            </a:r>
            <a:r>
              <a:rPr lang="en-GB" sz="4800" b="1" i="0" u="none" strike="noStrike" dirty="0">
                <a:solidFill>
                  <a:schemeClr val="accent1"/>
                </a:solidFill>
                <a:effectLst/>
                <a:latin typeface="IBM Plex Sans" panose="020B0503050203000203" pitchFamily="34" charset="0"/>
              </a:rPr>
              <a:t>Value</a:t>
            </a:r>
            <a:endParaRPr lang="en-GB" sz="48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55792-DCB7-1D2C-78F9-447D36A27BB5}"/>
              </a:ext>
            </a:extLst>
          </p:cNvPr>
          <p:cNvSpPr txBox="1"/>
          <p:nvPr/>
        </p:nvSpPr>
        <p:spPr>
          <a:xfrm>
            <a:off x="576000" y="2038230"/>
            <a:ext cx="4984548" cy="3416320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>
            <a:spAutoFit/>
          </a:bodyPr>
          <a:lstStyle/>
          <a:p>
            <a:pPr algn="l" fontAlgn="auto"/>
            <a:r>
              <a:rPr lang="en-GB" dirty="0">
                <a:latin typeface="+mn-lt"/>
              </a:rPr>
              <a:t>The integration of Maximo and </a:t>
            </a:r>
            <a:r>
              <a:rPr lang="en-GB" dirty="0" err="1">
                <a:latin typeface="+mn-lt"/>
              </a:rPr>
              <a:t>Watsonx</a:t>
            </a:r>
            <a:r>
              <a:rPr lang="en-GB" dirty="0">
                <a:latin typeface="+mn-lt"/>
              </a:rPr>
              <a:t> Orchestrate bridges the </a:t>
            </a:r>
            <a:r>
              <a:rPr lang="en-GB" dirty="0">
                <a:solidFill>
                  <a:schemeClr val="accent1"/>
                </a:solidFill>
                <a:latin typeface="+mn-lt"/>
              </a:rPr>
              <a:t>gap between asset management and agentic AI: </a:t>
            </a:r>
          </a:p>
        </p:txBody>
      </p:sp>
    </p:spTree>
    <p:extLst>
      <p:ext uri="{BB962C8B-B14F-4D97-AF65-F5344CB8AC3E}">
        <p14:creationId xmlns:p14="http://schemas.microsoft.com/office/powerpoint/2010/main" val="239862571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EDDC-6422-878F-6387-77E2F8A8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382276-A88C-3557-068C-25E5D177DE9A}"/>
              </a:ext>
            </a:extLst>
          </p:cNvPr>
          <p:cNvSpPr>
            <a:spLocks/>
          </p:cNvSpPr>
          <p:nvPr/>
        </p:nvSpPr>
        <p:spPr bwMode="auto">
          <a:xfrm>
            <a:off x="3175" y="895"/>
            <a:ext cx="6098644" cy="6116074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243808" tIns="243808" rIns="243808" bIns="243808" numCol="1" rtlCol="0" anchor="t" anchorCtr="0" compatLnSpc="1">
            <a:prstTxWarp prst="textNoShape">
              <a:avLst/>
            </a:prstTxWarp>
          </a:bodyPr>
          <a:lstStyle/>
          <a:p>
            <a:pPr defTabSz="243785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3734" dirty="0">
              <a:solidFill>
                <a:srgbClr val="FFFFFF"/>
              </a:solidFill>
              <a:latin typeface="IBM Plex Sans Light"/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5C22FABC-2DAD-E606-F488-D7E766974B3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7F79DF5-0613-4F87-124C-1A866AE2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ts val="3600"/>
              </a:spcAft>
              <a:defRPr/>
            </a:pPr>
            <a:r>
              <a:rPr lang="en-US" sz="3600" dirty="0">
                <a:solidFill>
                  <a:srgbClr val="000000"/>
                </a:solidFill>
                <a:latin typeface="IBM Plex Sans Light"/>
              </a:rPr>
              <a:t>“Our users need to find the information they need in a </a:t>
            </a:r>
            <a:r>
              <a:rPr lang="en-US" sz="3600" dirty="0">
                <a:solidFill>
                  <a:schemeClr val="accent1"/>
                </a:solidFill>
                <a:latin typeface="IBM Plex Sans Light"/>
              </a:rPr>
              <a:t>quick and controlled</a:t>
            </a:r>
            <a:r>
              <a:rPr lang="en-US" sz="3600" dirty="0">
                <a:solidFill>
                  <a:srgbClr val="000000"/>
                </a:solidFill>
                <a:latin typeface="IBM Plex Sans Light"/>
              </a:rPr>
              <a:t> manner.”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F32D38-DEBA-85B9-CD5D-0305CA45E6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“Using AI to query legal contracts is a </a:t>
            </a:r>
            <a:r>
              <a:rPr lang="en-US" dirty="0">
                <a:solidFill>
                  <a:schemeClr val="accent1"/>
                </a:solidFill>
              </a:rPr>
              <a:t>huge time saver</a:t>
            </a:r>
            <a:r>
              <a:rPr lang="en-US" dirty="0"/>
              <a:t>.”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927A43E-3188-9533-998A-67967C308A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“Automating Maximo data entry </a:t>
            </a:r>
            <a:r>
              <a:rPr lang="en-US" dirty="0">
                <a:solidFill>
                  <a:schemeClr val="accent1"/>
                </a:solidFill>
              </a:rPr>
              <a:t>reduces errors and allows our staff to get on  with more valuable tasks</a:t>
            </a:r>
            <a:r>
              <a:rPr lang="en-US" dirty="0"/>
              <a:t>.”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F694481-D628-72B8-FB43-8EE51B805218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4DB9FC9E-AB22-030B-9272-520CC5FFBDF8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0E2758-C8F0-3F93-99BF-FECA38FC28B9}"/>
              </a:ext>
            </a:extLst>
          </p:cNvPr>
          <p:cNvSpPr/>
          <p:nvPr/>
        </p:nvSpPr>
        <p:spPr bwMode="auto">
          <a:xfrm>
            <a:off x="21271832" y="12897853"/>
            <a:ext cx="1997242" cy="433136"/>
          </a:xfrm>
          <a:prstGeom prst="rect">
            <a:avLst/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024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64BB4B-EE74-8201-F70D-D4E0D2784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354" y="311150"/>
            <a:ext cx="11617587" cy="1965519"/>
          </a:xfrm>
        </p:spPr>
        <p:txBody>
          <a:bodyPr lIns="0" tIns="0" rIns="0" bIns="0" anchor="t"/>
          <a:lstStyle/>
          <a:p>
            <a:r>
              <a:rPr lang="en-US" dirty="0"/>
              <a:t>Video</a:t>
            </a:r>
          </a:p>
          <a:p>
            <a:endParaRPr lang="en-US" dirty="0"/>
          </a:p>
        </p:txBody>
      </p:sp>
      <p:pic>
        <p:nvPicPr>
          <p:cNvPr id="2" name="Picture Placeholder 6" descr="A circular pattern with different colored squares and triangles&#10;&#10;Description automatically generated">
            <a:extLst>
              <a:ext uri="{FF2B5EF4-FFF2-40B4-BE49-F238E27FC236}">
                <a16:creationId xmlns:a16="http://schemas.microsoft.com/office/drawing/2014/main" id="{A9B0264C-50E2-7B38-952E-333B358D15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684" t="2947" r="23671" b="1746"/>
          <a:stretch/>
        </p:blipFill>
        <p:spPr>
          <a:xfrm>
            <a:off x="12111134" y="-584463"/>
            <a:ext cx="12195175" cy="13703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5DC380-2BA4-467B-A87A-4262E3788601}"/>
              </a:ext>
            </a:extLst>
          </p:cNvPr>
          <p:cNvSpPr txBox="1"/>
          <p:nvPr/>
        </p:nvSpPr>
        <p:spPr>
          <a:xfrm>
            <a:off x="494354" y="2622240"/>
            <a:ext cx="12279084" cy="2308324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GB" sz="7200" dirty="0">
                <a:hlinkClick r:id="rId4"/>
              </a:rPr>
              <a:t>YouTube Video</a:t>
            </a:r>
            <a:endParaRPr lang="en-GB" sz="7200" dirty="0"/>
          </a:p>
          <a:p>
            <a:endParaRPr lang="en-GB" sz="720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61A47CFF-F641-A588-8634-91DD169A6D6F}"/>
              </a:ext>
            </a:extLst>
          </p:cNvPr>
          <p:cNvSpPr txBox="1">
            <a:spLocks/>
          </p:cNvSpPr>
          <p:nvPr/>
        </p:nvSpPr>
        <p:spPr>
          <a:xfrm>
            <a:off x="659325" y="7154507"/>
            <a:ext cx="11617587" cy="1965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Git Repo</a:t>
            </a:r>
          </a:p>
          <a:p>
            <a:endParaRPr lang="en-US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7BB29-23F4-C9B8-6854-475C4939C0B9}"/>
              </a:ext>
            </a:extLst>
          </p:cNvPr>
          <p:cNvSpPr txBox="1"/>
          <p:nvPr/>
        </p:nvSpPr>
        <p:spPr>
          <a:xfrm>
            <a:off x="825102" y="9055285"/>
            <a:ext cx="12279084" cy="120032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https://github.com/ncrowther/wxo-maximo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671329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1852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2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31DF0289-1028-6943-A020-36845773A867}" vid="{420903E5-FF27-9C4D-AB14-78ABBED49DF3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5855</TotalTime>
  <Words>287</Words>
  <Application>Microsoft Office PowerPoint</Application>
  <PresentationFormat>Custom</PresentationFormat>
  <Paragraphs>37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IBM Plex Sans</vt:lpstr>
      <vt:lpstr>IBM Plex Sans ExtLt</vt:lpstr>
      <vt:lpstr>IBM Plex Sans Light</vt:lpstr>
      <vt:lpstr>IBM presentation template</vt:lpstr>
      <vt:lpstr>IBM presentation template</vt:lpstr>
      <vt:lpstr>PowerPoint Presentation</vt:lpstr>
      <vt:lpstr>Overview of Maximo and Watsonx Orchestrate </vt:lpstr>
      <vt:lpstr>“Our users are in Maximo all day long finding information and creating reports. Anything that would reduce that time would be a big win.”</vt:lpstr>
      <vt:lpstr>The Value</vt:lpstr>
      <vt:lpstr>“Our users need to find the information they need in a quick and controlled manner.”</vt:lpstr>
      <vt:lpstr>Video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Steph Harrington</dc:creator>
  <cp:keywords/>
  <dc:description/>
  <cp:lastModifiedBy>Nigel Crowther</cp:lastModifiedBy>
  <cp:revision>29</cp:revision>
  <cp:lastPrinted>2019-04-25T15:14:05Z</cp:lastPrinted>
  <dcterms:created xsi:type="dcterms:W3CDTF">2025-01-09T15:38:18Z</dcterms:created>
  <dcterms:modified xsi:type="dcterms:W3CDTF">2025-10-24T15:22:16Z</dcterms:modified>
  <cp:category/>
</cp:coreProperties>
</file>